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2" r:id="rId5"/>
    <p:sldId id="309" r:id="rId6"/>
    <p:sldId id="310" r:id="rId7"/>
    <p:sldId id="311" r:id="rId8"/>
    <p:sldId id="315" r:id="rId9"/>
    <p:sldId id="312" r:id="rId10"/>
    <p:sldId id="318" r:id="rId11"/>
    <p:sldId id="313" r:id="rId12"/>
    <p:sldId id="319" r:id="rId13"/>
    <p:sldId id="314" r:id="rId14"/>
    <p:sldId id="316" r:id="rId15"/>
    <p:sldId id="317" r:id="rId16"/>
    <p:sldId id="320" r:id="rId17"/>
    <p:sldId id="32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509919-36B5-4162-8899-417A9F93473B}" type="doc">
      <dgm:prSet loTypeId="urn:microsoft.com/office/officeart/2016/7/layout/LinearBlockProcessNumbered#1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AF9DEE3-8444-4CA1-8BC2-D834D3ED6C74}">
      <dgm:prSet/>
      <dgm:spPr/>
      <dgm:t>
        <a:bodyPr/>
        <a:lstStyle/>
        <a:p>
          <a:r>
            <a:rPr lang="en-IN" b="1" dirty="0"/>
            <a:t>Week 1:</a:t>
          </a:r>
        </a:p>
        <a:p>
          <a:r>
            <a:rPr lang="en-IN" b="1" dirty="0"/>
            <a:t> </a:t>
          </a:r>
          <a:r>
            <a:rPr lang="en-IN" b="0" dirty="0"/>
            <a:t>Excel  Analysis</a:t>
          </a:r>
          <a:endParaRPr lang="en-US" b="0" dirty="0"/>
        </a:p>
      </dgm:t>
    </dgm:pt>
    <dgm:pt modelId="{205BDF49-153E-4CE8-8402-E23704595764}" type="parTrans" cxnId="{0A7DA706-17DD-412A-8BE0-4F6529274E66}">
      <dgm:prSet/>
      <dgm:spPr/>
      <dgm:t>
        <a:bodyPr/>
        <a:lstStyle/>
        <a:p>
          <a:endParaRPr lang="en-US"/>
        </a:p>
      </dgm:t>
    </dgm:pt>
    <dgm:pt modelId="{23210C7F-6847-491E-BE1F-A79529AF2B8B}" type="sibTrans" cxnId="{0A7DA706-17DD-412A-8BE0-4F6529274E66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B2B879BD-3840-400C-92BD-B2C2383358D7}">
      <dgm:prSet/>
      <dgm:spPr/>
      <dgm:t>
        <a:bodyPr/>
        <a:lstStyle/>
        <a:p>
          <a:r>
            <a:rPr lang="en-US" b="1" dirty="0"/>
            <a:t>Week</a:t>
          </a:r>
          <a:r>
            <a:rPr lang="en-US" b="1" baseline="0" dirty="0"/>
            <a:t> 2:</a:t>
          </a:r>
        </a:p>
        <a:p>
          <a:r>
            <a:rPr lang="en-US" baseline="0" dirty="0"/>
            <a:t>SQL &amp; Tableau Analysis</a:t>
          </a:r>
        </a:p>
        <a:p>
          <a:endParaRPr lang="en-US" dirty="0"/>
        </a:p>
      </dgm:t>
    </dgm:pt>
    <dgm:pt modelId="{09440D86-F3E6-4A3C-9E78-1AFC56348641}" type="parTrans" cxnId="{42CDCACA-F394-4044-BBF6-522A0005ABCB}">
      <dgm:prSet/>
      <dgm:spPr/>
      <dgm:t>
        <a:bodyPr/>
        <a:lstStyle/>
        <a:p>
          <a:endParaRPr lang="en-US"/>
        </a:p>
      </dgm:t>
    </dgm:pt>
    <dgm:pt modelId="{FBAA44FF-54DE-45C8-9FAC-512C40277233}" type="sibTrans" cxnId="{42CDCACA-F394-4044-BBF6-522A0005ABCB}">
      <dgm:prSet phldrT="02" phldr="0"/>
      <dgm:spPr/>
      <dgm:t>
        <a:bodyPr/>
        <a:lstStyle/>
        <a:p>
          <a:r>
            <a:rPr lang="en-US"/>
            <a:t>02</a:t>
          </a:r>
          <a:endParaRPr lang="en-US" dirty="0"/>
        </a:p>
      </dgm:t>
    </dgm:pt>
    <dgm:pt modelId="{CA9D674E-4FF1-45DC-82E4-0B2DB6A5363F}">
      <dgm:prSet/>
      <dgm:spPr/>
      <dgm:t>
        <a:bodyPr/>
        <a:lstStyle/>
        <a:p>
          <a:r>
            <a:rPr lang="en-US" b="1" dirty="0"/>
            <a:t>Week</a:t>
          </a:r>
          <a:r>
            <a:rPr lang="en-US" b="1" baseline="0" dirty="0"/>
            <a:t> 3:</a:t>
          </a:r>
        </a:p>
        <a:p>
          <a:r>
            <a:rPr lang="en-US" baseline="0" dirty="0"/>
            <a:t>Power BI Analysis</a:t>
          </a:r>
          <a:endParaRPr lang="en-US" dirty="0"/>
        </a:p>
      </dgm:t>
    </dgm:pt>
    <dgm:pt modelId="{F1F10F9B-925A-4787-9D00-91106497A02E}" type="parTrans" cxnId="{C5BD0B3A-2D82-4EC1-9975-05076C4418DA}">
      <dgm:prSet/>
      <dgm:spPr/>
      <dgm:t>
        <a:bodyPr/>
        <a:lstStyle/>
        <a:p>
          <a:endParaRPr lang="en-US"/>
        </a:p>
      </dgm:t>
    </dgm:pt>
    <dgm:pt modelId="{196DA4DC-9DD2-4A39-8A3A-D367BFE5A8BA}" type="sibTrans" cxnId="{C5BD0B3A-2D82-4EC1-9975-05076C4418DA}">
      <dgm:prSet phldrT="03" phldr="0"/>
      <dgm:spPr/>
      <dgm:t>
        <a:bodyPr/>
        <a:lstStyle/>
        <a:p>
          <a:r>
            <a:rPr lang="en-US"/>
            <a:t>03</a:t>
          </a:r>
          <a:endParaRPr lang="en-US" dirty="0"/>
        </a:p>
      </dgm:t>
    </dgm:pt>
    <dgm:pt modelId="{09F899AB-70CA-46DA-8F8C-58514A9FEF67}" type="pres">
      <dgm:prSet presAssocID="{15509919-36B5-4162-8899-417A9F93473B}" presName="Name0" presStyleCnt="0">
        <dgm:presLayoutVars>
          <dgm:animLvl val="lvl"/>
          <dgm:resizeHandles val="exact"/>
        </dgm:presLayoutVars>
      </dgm:prSet>
      <dgm:spPr/>
    </dgm:pt>
    <dgm:pt modelId="{9E708B2C-9056-43B8-820C-8D4D2D591614}" type="pres">
      <dgm:prSet presAssocID="{AAF9DEE3-8444-4CA1-8BC2-D834D3ED6C74}" presName="compositeNode" presStyleCnt="0">
        <dgm:presLayoutVars>
          <dgm:bulletEnabled val="1"/>
        </dgm:presLayoutVars>
      </dgm:prSet>
      <dgm:spPr/>
    </dgm:pt>
    <dgm:pt modelId="{F4992080-7D4E-4F2B-B608-170DDBB6006A}" type="pres">
      <dgm:prSet presAssocID="{AAF9DEE3-8444-4CA1-8BC2-D834D3ED6C74}" presName="bgRect" presStyleLbl="alignNode1" presStyleIdx="0" presStyleCnt="3"/>
      <dgm:spPr/>
    </dgm:pt>
    <dgm:pt modelId="{15536E38-36FE-4A51-B620-2715BFAD5475}" type="pres">
      <dgm:prSet presAssocID="{23210C7F-6847-491E-BE1F-A79529AF2B8B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B158057C-23C1-45AE-9273-5935A8F6104B}" type="pres">
      <dgm:prSet presAssocID="{AAF9DEE3-8444-4CA1-8BC2-D834D3ED6C74}" presName="nodeRect" presStyleLbl="alignNode1" presStyleIdx="0" presStyleCnt="3">
        <dgm:presLayoutVars>
          <dgm:bulletEnabled val="1"/>
        </dgm:presLayoutVars>
      </dgm:prSet>
      <dgm:spPr/>
    </dgm:pt>
    <dgm:pt modelId="{5D52B8B6-958E-480C-9455-911A104C8C73}" type="pres">
      <dgm:prSet presAssocID="{23210C7F-6847-491E-BE1F-A79529AF2B8B}" presName="sibTrans" presStyleCnt="0"/>
      <dgm:spPr/>
    </dgm:pt>
    <dgm:pt modelId="{070CFBFA-AE62-406D-B2E3-4A871FE3EC95}" type="pres">
      <dgm:prSet presAssocID="{B2B879BD-3840-400C-92BD-B2C2383358D7}" presName="compositeNode" presStyleCnt="0">
        <dgm:presLayoutVars>
          <dgm:bulletEnabled val="1"/>
        </dgm:presLayoutVars>
      </dgm:prSet>
      <dgm:spPr/>
    </dgm:pt>
    <dgm:pt modelId="{89A9B4CF-6439-46B1-B6A9-1D6CD5034774}" type="pres">
      <dgm:prSet presAssocID="{B2B879BD-3840-400C-92BD-B2C2383358D7}" presName="bgRect" presStyleLbl="alignNode1" presStyleIdx="1" presStyleCnt="3"/>
      <dgm:spPr/>
    </dgm:pt>
    <dgm:pt modelId="{379B8CE4-8135-4F2C-A5A0-E55EBE328E9A}" type="pres">
      <dgm:prSet presAssocID="{FBAA44FF-54DE-45C8-9FAC-512C40277233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9F2B2B99-E41C-48B6-9241-186B3896CDB2}" type="pres">
      <dgm:prSet presAssocID="{B2B879BD-3840-400C-92BD-B2C2383358D7}" presName="nodeRect" presStyleLbl="alignNode1" presStyleIdx="1" presStyleCnt="3">
        <dgm:presLayoutVars>
          <dgm:bulletEnabled val="1"/>
        </dgm:presLayoutVars>
      </dgm:prSet>
      <dgm:spPr/>
    </dgm:pt>
    <dgm:pt modelId="{88CC7DDE-DA0F-42A6-8406-A11161BD6BA9}" type="pres">
      <dgm:prSet presAssocID="{FBAA44FF-54DE-45C8-9FAC-512C40277233}" presName="sibTrans" presStyleCnt="0"/>
      <dgm:spPr/>
    </dgm:pt>
    <dgm:pt modelId="{4C550E1C-ACB2-4A5D-BD4A-3D5D60E405E6}" type="pres">
      <dgm:prSet presAssocID="{CA9D674E-4FF1-45DC-82E4-0B2DB6A5363F}" presName="compositeNode" presStyleCnt="0">
        <dgm:presLayoutVars>
          <dgm:bulletEnabled val="1"/>
        </dgm:presLayoutVars>
      </dgm:prSet>
      <dgm:spPr/>
    </dgm:pt>
    <dgm:pt modelId="{0802B4A8-7224-4B0A-95B7-D17AEB2B2AFF}" type="pres">
      <dgm:prSet presAssocID="{CA9D674E-4FF1-45DC-82E4-0B2DB6A5363F}" presName="bgRect" presStyleLbl="alignNode1" presStyleIdx="2" presStyleCnt="3"/>
      <dgm:spPr/>
    </dgm:pt>
    <dgm:pt modelId="{68AC9669-DC11-473A-AA2E-579A44E78C37}" type="pres">
      <dgm:prSet presAssocID="{196DA4DC-9DD2-4A39-8A3A-D367BFE5A8BA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D085015A-41AF-4EFA-A104-4FD73B2362F0}" type="pres">
      <dgm:prSet presAssocID="{CA9D674E-4FF1-45DC-82E4-0B2DB6A5363F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0A7DA706-17DD-412A-8BE0-4F6529274E66}" srcId="{15509919-36B5-4162-8899-417A9F93473B}" destId="{AAF9DEE3-8444-4CA1-8BC2-D834D3ED6C74}" srcOrd="0" destOrd="0" parTransId="{205BDF49-153E-4CE8-8402-E23704595764}" sibTransId="{23210C7F-6847-491E-BE1F-A79529AF2B8B}"/>
    <dgm:cxn modelId="{109C0B15-B806-4127-A7EA-6F2FD85C2B5C}" type="presOf" srcId="{AAF9DEE3-8444-4CA1-8BC2-D834D3ED6C74}" destId="{B158057C-23C1-45AE-9273-5935A8F6104B}" srcOrd="1" destOrd="0" presId="urn:microsoft.com/office/officeart/2016/7/layout/LinearBlockProcessNumbered#1"/>
    <dgm:cxn modelId="{284ED317-FBD3-4318-9DC1-43DD0A7A84DA}" type="presOf" srcId="{CA9D674E-4FF1-45DC-82E4-0B2DB6A5363F}" destId="{D085015A-41AF-4EFA-A104-4FD73B2362F0}" srcOrd="1" destOrd="0" presId="urn:microsoft.com/office/officeart/2016/7/layout/LinearBlockProcessNumbered#1"/>
    <dgm:cxn modelId="{28938E20-006F-438A-BC3B-539C09A41AF8}" type="presOf" srcId="{23210C7F-6847-491E-BE1F-A79529AF2B8B}" destId="{15536E38-36FE-4A51-B620-2715BFAD5475}" srcOrd="0" destOrd="0" presId="urn:microsoft.com/office/officeart/2016/7/layout/LinearBlockProcessNumbered#1"/>
    <dgm:cxn modelId="{9519B82E-A537-470B-AA27-A5E33C934F3E}" type="presOf" srcId="{196DA4DC-9DD2-4A39-8A3A-D367BFE5A8BA}" destId="{68AC9669-DC11-473A-AA2E-579A44E78C37}" srcOrd="0" destOrd="0" presId="urn:microsoft.com/office/officeart/2016/7/layout/LinearBlockProcessNumbered#1"/>
    <dgm:cxn modelId="{E774C62E-62A2-478F-B2D4-49AC51F9A4FC}" type="presOf" srcId="{FBAA44FF-54DE-45C8-9FAC-512C40277233}" destId="{379B8CE4-8135-4F2C-A5A0-E55EBE328E9A}" srcOrd="0" destOrd="0" presId="urn:microsoft.com/office/officeart/2016/7/layout/LinearBlockProcessNumbered#1"/>
    <dgm:cxn modelId="{C5BD0B3A-2D82-4EC1-9975-05076C4418DA}" srcId="{15509919-36B5-4162-8899-417A9F93473B}" destId="{CA9D674E-4FF1-45DC-82E4-0B2DB6A5363F}" srcOrd="2" destOrd="0" parTransId="{F1F10F9B-925A-4787-9D00-91106497A02E}" sibTransId="{196DA4DC-9DD2-4A39-8A3A-D367BFE5A8BA}"/>
    <dgm:cxn modelId="{6E5EF465-680F-4962-87CA-2B44BA61BBF3}" type="presOf" srcId="{AAF9DEE3-8444-4CA1-8BC2-D834D3ED6C74}" destId="{F4992080-7D4E-4F2B-B608-170DDBB6006A}" srcOrd="0" destOrd="0" presId="urn:microsoft.com/office/officeart/2016/7/layout/LinearBlockProcessNumbered#1"/>
    <dgm:cxn modelId="{BE05FF76-48E4-476C-9495-A13A63321F9B}" type="presOf" srcId="{B2B879BD-3840-400C-92BD-B2C2383358D7}" destId="{89A9B4CF-6439-46B1-B6A9-1D6CD5034774}" srcOrd="0" destOrd="0" presId="urn:microsoft.com/office/officeart/2016/7/layout/LinearBlockProcessNumbered#1"/>
    <dgm:cxn modelId="{AEC6D081-73F8-41AD-9101-B43295B68E14}" type="presOf" srcId="{CA9D674E-4FF1-45DC-82E4-0B2DB6A5363F}" destId="{0802B4A8-7224-4B0A-95B7-D17AEB2B2AFF}" srcOrd="0" destOrd="0" presId="urn:microsoft.com/office/officeart/2016/7/layout/LinearBlockProcessNumbered#1"/>
    <dgm:cxn modelId="{840BB0C7-181A-4BA4-9324-C35937B4BA77}" type="presOf" srcId="{15509919-36B5-4162-8899-417A9F93473B}" destId="{09F899AB-70CA-46DA-8F8C-58514A9FEF67}" srcOrd="0" destOrd="0" presId="urn:microsoft.com/office/officeart/2016/7/layout/LinearBlockProcessNumbered#1"/>
    <dgm:cxn modelId="{42CDCACA-F394-4044-BBF6-522A0005ABCB}" srcId="{15509919-36B5-4162-8899-417A9F93473B}" destId="{B2B879BD-3840-400C-92BD-B2C2383358D7}" srcOrd="1" destOrd="0" parTransId="{09440D86-F3E6-4A3C-9E78-1AFC56348641}" sibTransId="{FBAA44FF-54DE-45C8-9FAC-512C40277233}"/>
    <dgm:cxn modelId="{6AB3E3E3-CAC3-4821-AAD0-21289FC8AF3F}" type="presOf" srcId="{B2B879BD-3840-400C-92BD-B2C2383358D7}" destId="{9F2B2B99-E41C-48B6-9241-186B3896CDB2}" srcOrd="1" destOrd="0" presId="urn:microsoft.com/office/officeart/2016/7/layout/LinearBlockProcessNumbered#1"/>
    <dgm:cxn modelId="{90D3E440-E32E-4616-A794-C357B58C725C}" type="presParOf" srcId="{09F899AB-70CA-46DA-8F8C-58514A9FEF67}" destId="{9E708B2C-9056-43B8-820C-8D4D2D591614}" srcOrd="0" destOrd="0" presId="urn:microsoft.com/office/officeart/2016/7/layout/LinearBlockProcessNumbered#1"/>
    <dgm:cxn modelId="{94905F72-0547-4876-85BD-1CE201853F0E}" type="presParOf" srcId="{9E708B2C-9056-43B8-820C-8D4D2D591614}" destId="{F4992080-7D4E-4F2B-B608-170DDBB6006A}" srcOrd="0" destOrd="0" presId="urn:microsoft.com/office/officeart/2016/7/layout/LinearBlockProcessNumbered#1"/>
    <dgm:cxn modelId="{32F232D9-C82F-455D-A4CB-8A6F950974CB}" type="presParOf" srcId="{9E708B2C-9056-43B8-820C-8D4D2D591614}" destId="{15536E38-36FE-4A51-B620-2715BFAD5475}" srcOrd="1" destOrd="0" presId="urn:microsoft.com/office/officeart/2016/7/layout/LinearBlockProcessNumbered#1"/>
    <dgm:cxn modelId="{E1630E94-0972-452E-A256-8FE168492E2F}" type="presParOf" srcId="{9E708B2C-9056-43B8-820C-8D4D2D591614}" destId="{B158057C-23C1-45AE-9273-5935A8F6104B}" srcOrd="2" destOrd="0" presId="urn:microsoft.com/office/officeart/2016/7/layout/LinearBlockProcessNumbered#1"/>
    <dgm:cxn modelId="{3D53040A-6114-439D-91AE-A92823686B42}" type="presParOf" srcId="{09F899AB-70CA-46DA-8F8C-58514A9FEF67}" destId="{5D52B8B6-958E-480C-9455-911A104C8C73}" srcOrd="1" destOrd="0" presId="urn:microsoft.com/office/officeart/2016/7/layout/LinearBlockProcessNumbered#1"/>
    <dgm:cxn modelId="{71CD1E60-9941-432A-AAD3-6BEE9759C7CA}" type="presParOf" srcId="{09F899AB-70CA-46DA-8F8C-58514A9FEF67}" destId="{070CFBFA-AE62-406D-B2E3-4A871FE3EC95}" srcOrd="2" destOrd="0" presId="urn:microsoft.com/office/officeart/2016/7/layout/LinearBlockProcessNumbered#1"/>
    <dgm:cxn modelId="{E24E5F24-B05D-485A-B1E3-F029361EAC2F}" type="presParOf" srcId="{070CFBFA-AE62-406D-B2E3-4A871FE3EC95}" destId="{89A9B4CF-6439-46B1-B6A9-1D6CD5034774}" srcOrd="0" destOrd="0" presId="urn:microsoft.com/office/officeart/2016/7/layout/LinearBlockProcessNumbered#1"/>
    <dgm:cxn modelId="{B1A2A29E-FBA6-4188-BE73-D4752962B995}" type="presParOf" srcId="{070CFBFA-AE62-406D-B2E3-4A871FE3EC95}" destId="{379B8CE4-8135-4F2C-A5A0-E55EBE328E9A}" srcOrd="1" destOrd="0" presId="urn:microsoft.com/office/officeart/2016/7/layout/LinearBlockProcessNumbered#1"/>
    <dgm:cxn modelId="{F07F5881-E747-4C57-B3A8-80D81CA9E653}" type="presParOf" srcId="{070CFBFA-AE62-406D-B2E3-4A871FE3EC95}" destId="{9F2B2B99-E41C-48B6-9241-186B3896CDB2}" srcOrd="2" destOrd="0" presId="urn:microsoft.com/office/officeart/2016/7/layout/LinearBlockProcessNumbered#1"/>
    <dgm:cxn modelId="{CFE97617-C516-4DC5-9F9C-80DAA0EDE08F}" type="presParOf" srcId="{09F899AB-70CA-46DA-8F8C-58514A9FEF67}" destId="{88CC7DDE-DA0F-42A6-8406-A11161BD6BA9}" srcOrd="3" destOrd="0" presId="urn:microsoft.com/office/officeart/2016/7/layout/LinearBlockProcessNumbered#1"/>
    <dgm:cxn modelId="{B7A23FED-2302-47D8-8E80-C7B4D99F0301}" type="presParOf" srcId="{09F899AB-70CA-46DA-8F8C-58514A9FEF67}" destId="{4C550E1C-ACB2-4A5D-BD4A-3D5D60E405E6}" srcOrd="4" destOrd="0" presId="urn:microsoft.com/office/officeart/2016/7/layout/LinearBlockProcessNumbered#1"/>
    <dgm:cxn modelId="{B9E766C8-B1F9-4299-93D9-C5605EEE5998}" type="presParOf" srcId="{4C550E1C-ACB2-4A5D-BD4A-3D5D60E405E6}" destId="{0802B4A8-7224-4B0A-95B7-D17AEB2B2AFF}" srcOrd="0" destOrd="0" presId="urn:microsoft.com/office/officeart/2016/7/layout/LinearBlockProcessNumbered#1"/>
    <dgm:cxn modelId="{DDDBCEBE-059F-40AD-A1D1-8D888A5BCC15}" type="presParOf" srcId="{4C550E1C-ACB2-4A5D-BD4A-3D5D60E405E6}" destId="{68AC9669-DC11-473A-AA2E-579A44E78C37}" srcOrd="1" destOrd="0" presId="urn:microsoft.com/office/officeart/2016/7/layout/LinearBlockProcessNumbered#1"/>
    <dgm:cxn modelId="{90FC101C-CCF0-411F-ABB9-797553DF6D08}" type="presParOf" srcId="{4C550E1C-ACB2-4A5D-BD4A-3D5D60E405E6}" destId="{D085015A-41AF-4EFA-A104-4FD73B2362F0}" srcOrd="2" destOrd="0" presId="urn:microsoft.com/office/officeart/2016/7/layout/LinearBlockProcessNumbered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992080-7D4E-4F2B-B608-170DDBB6006A}">
      <dsp:nvSpPr>
        <dsp:cNvPr id="0" name=""/>
        <dsp:cNvSpPr/>
      </dsp:nvSpPr>
      <dsp:spPr>
        <a:xfrm>
          <a:off x="785" y="0"/>
          <a:ext cx="3182540" cy="372561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0" rIns="31436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/>
            <a:t>Week 1: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/>
            <a:t> </a:t>
          </a:r>
          <a:r>
            <a:rPr lang="en-IN" sz="2600" b="0" kern="1200" dirty="0"/>
            <a:t>Excel  Analysis</a:t>
          </a:r>
          <a:endParaRPr lang="en-US" sz="2600" b="0" kern="1200" dirty="0"/>
        </a:p>
      </dsp:txBody>
      <dsp:txXfrm>
        <a:off x="785" y="1490244"/>
        <a:ext cx="3182540" cy="2235367"/>
      </dsp:txXfrm>
    </dsp:sp>
    <dsp:sp modelId="{15536E38-36FE-4A51-B620-2715BFAD5475}">
      <dsp:nvSpPr>
        <dsp:cNvPr id="0" name=""/>
        <dsp:cNvSpPr/>
      </dsp:nvSpPr>
      <dsp:spPr>
        <a:xfrm>
          <a:off x="785" y="0"/>
          <a:ext cx="3182540" cy="149024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165100" rIns="31436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  <a:endParaRPr lang="en-US" sz="6600" kern="1200" dirty="0"/>
        </a:p>
      </dsp:txBody>
      <dsp:txXfrm>
        <a:off x="785" y="0"/>
        <a:ext cx="3182540" cy="1490244"/>
      </dsp:txXfrm>
    </dsp:sp>
    <dsp:sp modelId="{89A9B4CF-6439-46B1-B6A9-1D6CD5034774}">
      <dsp:nvSpPr>
        <dsp:cNvPr id="0" name=""/>
        <dsp:cNvSpPr/>
      </dsp:nvSpPr>
      <dsp:spPr>
        <a:xfrm>
          <a:off x="3437929" y="0"/>
          <a:ext cx="3182540" cy="372561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0" rIns="31436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Week</a:t>
          </a:r>
          <a:r>
            <a:rPr lang="en-US" sz="2600" b="1" kern="1200" baseline="0" dirty="0"/>
            <a:t> 2: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 dirty="0"/>
            <a:t>SQL &amp; Tableau Analysis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 dirty="0"/>
        </a:p>
      </dsp:txBody>
      <dsp:txXfrm>
        <a:off x="3437929" y="1490244"/>
        <a:ext cx="3182540" cy="2235367"/>
      </dsp:txXfrm>
    </dsp:sp>
    <dsp:sp modelId="{379B8CE4-8135-4F2C-A5A0-E55EBE328E9A}">
      <dsp:nvSpPr>
        <dsp:cNvPr id="0" name=""/>
        <dsp:cNvSpPr/>
      </dsp:nvSpPr>
      <dsp:spPr>
        <a:xfrm>
          <a:off x="3437929" y="0"/>
          <a:ext cx="3182540" cy="149024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165100" rIns="31436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  <a:endParaRPr lang="en-US" sz="6600" kern="1200" dirty="0"/>
        </a:p>
      </dsp:txBody>
      <dsp:txXfrm>
        <a:off x="3437929" y="0"/>
        <a:ext cx="3182540" cy="1490244"/>
      </dsp:txXfrm>
    </dsp:sp>
    <dsp:sp modelId="{0802B4A8-7224-4B0A-95B7-D17AEB2B2AFF}">
      <dsp:nvSpPr>
        <dsp:cNvPr id="0" name=""/>
        <dsp:cNvSpPr/>
      </dsp:nvSpPr>
      <dsp:spPr>
        <a:xfrm>
          <a:off x="6875073" y="0"/>
          <a:ext cx="3182540" cy="372561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0" rIns="314364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Week</a:t>
          </a:r>
          <a:r>
            <a:rPr lang="en-US" sz="2600" b="1" kern="1200" baseline="0" dirty="0"/>
            <a:t> 3:</a:t>
          </a:r>
        </a:p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 dirty="0"/>
            <a:t>Power BI Analysis</a:t>
          </a:r>
          <a:endParaRPr lang="en-US" sz="2600" kern="1200" dirty="0"/>
        </a:p>
      </dsp:txBody>
      <dsp:txXfrm>
        <a:off x="6875073" y="1490244"/>
        <a:ext cx="3182540" cy="2235367"/>
      </dsp:txXfrm>
    </dsp:sp>
    <dsp:sp modelId="{68AC9669-DC11-473A-AA2E-579A44E78C37}">
      <dsp:nvSpPr>
        <dsp:cNvPr id="0" name=""/>
        <dsp:cNvSpPr/>
      </dsp:nvSpPr>
      <dsp:spPr>
        <a:xfrm>
          <a:off x="6875073" y="0"/>
          <a:ext cx="3182540" cy="149024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165100" rIns="31436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  <a:endParaRPr lang="en-US" sz="6600" kern="1200" dirty="0"/>
        </a:p>
      </dsp:txBody>
      <dsp:txXfrm>
        <a:off x="6875073" y="0"/>
        <a:ext cx="3182540" cy="14902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#1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{97D4F0E7-A380-4E8A-A5E6-02A2C57BE889}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{5712BDC4-329B-45B2-9194-A148ABB6560A}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{8984278A-33F0-4B08-ABC0-F48449CE37F3}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9/18/2026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750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31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058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95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9/18/2026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14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9/18/2026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700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9/18/2026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161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9/18/2026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53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808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40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2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BA1780-A246-4C7F-9267-727EF2F4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46"/>
          <a:stretch/>
        </p:blipFill>
        <p:spPr>
          <a:xfrm>
            <a:off x="-35028" y="-78649"/>
            <a:ext cx="1219197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7398C-75E5-4CB0-BA4F-D7D5CF249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5" y="2350017"/>
            <a:ext cx="4775075" cy="1630906"/>
          </a:xfrm>
        </p:spPr>
        <p:txBody>
          <a:bodyPr>
            <a:normAutofit/>
          </a:bodyPr>
          <a:lstStyle/>
          <a:p>
            <a:r>
              <a:rPr lang="en-IN" sz="2800" dirty="0"/>
              <a:t>ADVENTURE WORKS  SALES  ANALYSIS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BFB45-FC34-495C-9C68-F9641246C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985" y="3504333"/>
            <a:ext cx="5350887" cy="1225494"/>
          </a:xfrm>
        </p:spPr>
        <p:txBody>
          <a:bodyPr>
            <a:normAutofit fontScale="25000" lnSpcReduction="20000"/>
          </a:bodyPr>
          <a:lstStyle/>
          <a:p>
            <a:r>
              <a:rPr lang="en-GB" sz="4000" b="1" dirty="0"/>
              <a:t>Presenting by: Sneha Priya K </a:t>
            </a:r>
          </a:p>
          <a:p>
            <a:r>
              <a:rPr lang="en-GB" sz="4000" b="1" dirty="0"/>
              <a:t>                        Dipayan</a:t>
            </a:r>
          </a:p>
          <a:p>
            <a:r>
              <a:rPr lang="en-GB" sz="4000" b="1" dirty="0"/>
              <a:t>               Ayaj</a:t>
            </a:r>
          </a:p>
          <a:p>
            <a:r>
              <a:rPr lang="en-GB" sz="4000" b="1" dirty="0"/>
              <a:t>                       Sandeep</a:t>
            </a:r>
          </a:p>
          <a:p>
            <a:r>
              <a:rPr lang="en-GB" sz="4000" b="1" dirty="0"/>
              <a:t>                    Farhan</a:t>
            </a:r>
          </a:p>
          <a:p>
            <a:r>
              <a:rPr lang="en-GB" sz="4000" b="1" dirty="0"/>
              <a:t>                 Nikhil</a:t>
            </a:r>
          </a:p>
          <a:p>
            <a:r>
              <a:rPr lang="en-GB" sz="4000" b="1" dirty="0"/>
              <a:t>                   Ramesh</a:t>
            </a:r>
          </a:p>
          <a:p>
            <a:br>
              <a:rPr lang="en-GB" dirty="0"/>
            </a:b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45F483-FE2D-B1A5-4A95-3E90718D5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638" y="19772"/>
            <a:ext cx="5629361" cy="27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082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B8085-1FFF-44DD-A144-D794D923C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Final Project Presentation</a:t>
            </a:r>
            <a:endParaRPr lang="en-US" dirty="0"/>
          </a:p>
        </p:txBody>
      </p:sp>
      <p:graphicFrame>
        <p:nvGraphicFramePr>
          <p:cNvPr id="5" name="Content Placeholder 2" descr="SmartArt Process Diagram">
            <a:extLst>
              <a:ext uri="{FF2B5EF4-FFF2-40B4-BE49-F238E27FC236}">
                <a16:creationId xmlns:a16="http://schemas.microsoft.com/office/drawing/2014/main" id="{60233515-42BF-4401-AB7F-458C06159D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1185101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33773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F82AA-0A1B-F4B8-C19D-5E7E20516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5D569-11D9-52C6-D6DF-75A3B1951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The project was completed over three weeks using the same AdventureWorks dataset, with a separate analytical deliverable for each week.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202225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EC1D5-32AD-3587-35DE-2B928D20E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207" y="573767"/>
            <a:ext cx="10058400" cy="1371600"/>
          </a:xfrm>
        </p:spPr>
        <p:txBody>
          <a:bodyPr/>
          <a:lstStyle/>
          <a:p>
            <a:r>
              <a:rPr lang="en-IN" dirty="0"/>
              <a:t>WEEK 1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FD2D7-7DC5-FD26-2A02-FF14CAD0A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26" y="1504187"/>
            <a:ext cx="10058400" cy="3849624"/>
          </a:xfrm>
        </p:spPr>
        <p:txBody>
          <a:bodyPr>
            <a:normAutofit fontScale="70000" lnSpcReduction="20000"/>
          </a:bodyPr>
          <a:lstStyle/>
          <a:p>
            <a:r>
              <a:rPr lang="en-GB" sz="3200" b="1" dirty="0"/>
              <a:t>Excel</a:t>
            </a:r>
            <a:endParaRPr lang="en-GB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Data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KPI calculations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Sales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Dashboard creation</a:t>
            </a:r>
          </a:p>
          <a:p>
            <a:r>
              <a:rPr lang="en-GB" b="1" dirty="0"/>
              <a:t>Key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Overall sales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Monthly sales trend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Year-wise sales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Quarter-wise sales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Regional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Product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Customer analysis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458F42-ABD4-590F-3EF0-ED99FC5F8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870" y="642594"/>
            <a:ext cx="8839201" cy="557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146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1D2A3-56E3-AF98-C179-A68B49E79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Excel Findings</a:t>
            </a:r>
            <a:br>
              <a:rPr lang="en-GB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BFA2BB-F159-180F-A16B-C55B4987D4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427487"/>
            <a:ext cx="994381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Sales Trend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increased significantly over the analysed years, with 2013 contributing the highest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Product Performance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Mountain-200 and Road-150 products were among the major contributors to overall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Regional Performance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Australia recorded the highest regional sales contribution, followed by Southwest.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Cost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Sales Amount vs Production Cost analysis helped compare revenue generated against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of production.</a:t>
            </a:r>
          </a:p>
        </p:txBody>
      </p:sp>
    </p:spTree>
    <p:extLst>
      <p:ext uri="{BB962C8B-B14F-4D97-AF65-F5344CB8AC3E}">
        <p14:creationId xmlns:p14="http://schemas.microsoft.com/office/powerpoint/2010/main" val="327917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E415A-6FB7-964B-D3F5-FF2949F51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25" y="603265"/>
            <a:ext cx="10058400" cy="1371600"/>
          </a:xfrm>
        </p:spPr>
        <p:txBody>
          <a:bodyPr/>
          <a:lstStyle/>
          <a:p>
            <a:r>
              <a:rPr lang="en-IN" dirty="0"/>
              <a:t>WEEK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B13A6-C86C-3A4D-8263-1AF9A7BFC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25" y="1660669"/>
            <a:ext cx="10058400" cy="3849624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SQL + Tableau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SQL-based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Business queries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Data visualization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Tableau dashboard</a:t>
            </a:r>
          </a:p>
          <a:p>
            <a:r>
              <a:rPr lang="en-GB" b="1" dirty="0"/>
              <a:t>SQL Analysis Focus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Aggregation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Filtering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GROUP BY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JOINs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Ranking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Business KPIs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E4EDA3-93DC-C767-ED7B-A42F2B9245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33" t="14910" r="-1093" b="21003"/>
          <a:stretch/>
        </p:blipFill>
        <p:spPr>
          <a:xfrm>
            <a:off x="2753033" y="359951"/>
            <a:ext cx="8912942" cy="30425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DEE240-30ED-DCEC-D717-53460578B0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52" t="16917" b="24215"/>
          <a:stretch/>
        </p:blipFill>
        <p:spPr>
          <a:xfrm>
            <a:off x="2753034" y="3402468"/>
            <a:ext cx="8780206" cy="300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98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646C4-C5D9-271C-0E14-DB810221C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Finding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599257-839D-2083-0CB8-F7EFA1AC8A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736229"/>
            <a:ext cx="8326318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Data filtering using WHERE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Aggregation using SUM() and COUNT()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Grouping using GROUP BY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Filtering aggregated results using HAVING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Sorting using ORDER BY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Joining related tables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Analysing customers, products, sales and regions </a:t>
            </a:r>
          </a:p>
        </p:txBody>
      </p:sp>
    </p:spTree>
    <p:extLst>
      <p:ext uri="{BB962C8B-B14F-4D97-AF65-F5344CB8AC3E}">
        <p14:creationId xmlns:p14="http://schemas.microsoft.com/office/powerpoint/2010/main" val="2408823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770D9-0DD8-B8D1-E24E-998B5C304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25" y="642594"/>
            <a:ext cx="10058400" cy="1371600"/>
          </a:xfrm>
        </p:spPr>
        <p:txBody>
          <a:bodyPr/>
          <a:lstStyle/>
          <a:p>
            <a:r>
              <a:rPr lang="en-IN" dirty="0"/>
              <a:t>WEEK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2CAB7-8CD0-22E5-A77E-DA77EDD1D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025" y="1739326"/>
            <a:ext cx="10058400" cy="3849624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SQL + Tableau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SQL-based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Business queries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Data visualization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Tableau dashboard</a:t>
            </a:r>
          </a:p>
          <a:p>
            <a:r>
              <a:rPr lang="en-GB" b="1" dirty="0"/>
              <a:t>SQL Analysis Focus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Aggregation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Filtering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GROUP BY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JOINs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Ranking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Business KPIs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96A894-4A36-B2EB-DDE1-DE05B83DF8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632"/>
          <a:stretch/>
        </p:blipFill>
        <p:spPr>
          <a:xfrm>
            <a:off x="2546555" y="373626"/>
            <a:ext cx="9119420" cy="595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702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B4F4-CA07-F0AF-00CE-D65FBCE9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Tableau Findings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01A59F-8709-1318-F46F-1F8B927D13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818328"/>
            <a:ext cx="1066308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Sales &amp; Profit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dashboard shows total sales of approximately $29.36M and total profit of approximately $12.08M, with a profit margin of 41.15%.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Product Performance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Mountain-200 and Road-150 products appear among the leading products based on sales and profit.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Regional Performance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Regional analysis shows differences in sales and profit contribution across geographic markets.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Time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increased substantially across the analysed years, with 2013 showing the highest sales level.</a:t>
            </a:r>
          </a:p>
        </p:txBody>
      </p:sp>
    </p:spTree>
    <p:extLst>
      <p:ext uri="{BB962C8B-B14F-4D97-AF65-F5344CB8AC3E}">
        <p14:creationId xmlns:p14="http://schemas.microsoft.com/office/powerpoint/2010/main" val="3012303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EC514-5041-91D7-7911-B91ED3D56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29" y="308297"/>
            <a:ext cx="10058400" cy="1371600"/>
          </a:xfrm>
        </p:spPr>
        <p:txBody>
          <a:bodyPr/>
          <a:lstStyle/>
          <a:p>
            <a:r>
              <a:rPr lang="en-IN" dirty="0"/>
              <a:t>WEEK 3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D8B084-CBEB-57B2-D341-EE3ECD8FE7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6529" y="1265587"/>
            <a:ext cx="3082413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2400" dirty="0"/>
              <a:t>Power BI Sales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 Variable Small Semilig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Variable Small Semilig" pitchFamily="2" charset="0"/>
              </a:rPr>
              <a:t>29.36M Total Sales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Variable Small Semilig" pitchFamily="2" charset="0"/>
              </a:rPr>
              <a:t>28K Total Orders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Variable Small Semilig" pitchFamily="2" charset="0"/>
              </a:rPr>
              <a:t>60K Total Quantity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Variable Small Semilig" pitchFamily="2" charset="0"/>
              </a:rPr>
              <a:t>18K Total Customers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Variable Small Semilig" pitchFamily="2" charset="0"/>
              </a:rPr>
              <a:t>Monthly Sales Trend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Variable Small Semilig" pitchFamily="2" charset="0"/>
              </a:rPr>
              <a:t>Sales Performance by Year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Variable Small Semilig" pitchFamily="2" charset="0"/>
              </a:rPr>
              <a:t>Quarter Wise Sales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Variable Small Semilig" pitchFamily="2" charset="0"/>
              </a:rPr>
              <a:t>Sales Performance by Region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Variable Small Semilig" pitchFamily="2" charset="0"/>
              </a:rPr>
              <a:t>Top 10 Products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Variable Small Semilig" pitchFamily="2" charset="0"/>
              </a:rPr>
              <a:t>Top 10 Customers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Variable Small Semilig" pitchFamily="2" charset="0"/>
              </a:rPr>
              <a:t>Year filter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Variable Small Semilig" pitchFamily="2" charset="0"/>
              </a:rPr>
              <a:t>Region filter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AEFC29-25A3-4643-A168-46A2DE877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955" y="519556"/>
            <a:ext cx="8131278" cy="580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212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BA02-E626-E67A-EF14-A99A8E633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29409"/>
            <a:ext cx="10058400" cy="1371600"/>
          </a:xfrm>
        </p:spPr>
        <p:txBody>
          <a:bodyPr/>
          <a:lstStyle/>
          <a:p>
            <a:r>
              <a:rPr lang="en-IN" dirty="0"/>
              <a:t>Power BI findings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7D98F3-2DB2-AF9D-EBDD-CD162ABEE5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499457"/>
            <a:ext cx="1081056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Year-wise Sales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2013 recorded the highest sales at approximately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16.35M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compared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7.08M in 2011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5.84M in 2012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Quarterly Sales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Q4 contributed the highest share of quarterly sales at approximately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31%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followed by Q3 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26%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Monthly Sales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December recorded the highest monthly sales at approximately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3.21M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while February recorded the lowest at approximately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1.74M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Regional Sales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Australia was the largest regional contributor with approximately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9.06M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followed by Southwest with approximately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5.72M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Top Products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Mountain-200 variants and Road-150 variants were among the highest-selling products.</a:t>
            </a:r>
          </a:p>
        </p:txBody>
      </p:sp>
    </p:spTree>
    <p:extLst>
      <p:ext uri="{BB962C8B-B14F-4D97-AF65-F5344CB8AC3E}">
        <p14:creationId xmlns:p14="http://schemas.microsoft.com/office/powerpoint/2010/main" val="264390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CE43C-D3B5-95AF-2259-AB5CE5FB4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36772"/>
            <a:ext cx="10058400" cy="1371600"/>
          </a:xfrm>
        </p:spPr>
        <p:txBody>
          <a:bodyPr/>
          <a:lstStyle/>
          <a:p>
            <a:r>
              <a:rPr lang="en-IN" dirty="0"/>
              <a:t>Key Achievements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6D4E4D-D45A-94A0-76CA-E9031137DB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1486847"/>
            <a:ext cx="1030912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Gained practical experience working with a real-world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AdventureWorks sales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Learned to analyse sales data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Excel, SQL, Tableau and Power BI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skills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cleaning, filtering, aggregation and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interactive dashboards to communicate business information clearly.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trends, product performance, customer behaviour and regional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Learned how to convert raw data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meaningful business insights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my understanding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KPIs, data visualisation and business reporting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the ability to use data analysis to support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decision-making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24428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19C5B-7ABD-791A-8113-43990291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FF679-5745-9DD7-0B2A-B4C06B0D4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01 — Product Strategy</a:t>
            </a:r>
            <a:br>
              <a:rPr lang="en-GB" dirty="0"/>
            </a:br>
            <a:r>
              <a:rPr lang="en-GB" dirty="0"/>
              <a:t>Prioritise inventory and marketing for high-performing products such as Mountain-200 and Road-150.</a:t>
            </a:r>
          </a:p>
          <a:p>
            <a:r>
              <a:rPr lang="en-GB" b="1" dirty="0"/>
              <a:t>02 — Regional Strategy</a:t>
            </a:r>
            <a:br>
              <a:rPr lang="en-GB" dirty="0"/>
            </a:br>
            <a:r>
              <a:rPr lang="en-GB" dirty="0"/>
              <a:t>Strengthen successful markets and investigate opportunities in lower-performing regions.</a:t>
            </a:r>
          </a:p>
          <a:p>
            <a:r>
              <a:rPr lang="en-GB" b="1" dirty="0"/>
              <a:t>03 — Seasonal Planning</a:t>
            </a:r>
            <a:br>
              <a:rPr lang="en-GB" dirty="0"/>
            </a:br>
            <a:r>
              <a:rPr lang="en-GB" dirty="0"/>
              <a:t>Prepare inventory and resources ahead of high-sales periods, particularly Q4 and December.</a:t>
            </a:r>
          </a:p>
          <a:p>
            <a:r>
              <a:rPr lang="en-GB" b="1" dirty="0"/>
              <a:t>04 — Profitability Management</a:t>
            </a:r>
            <a:br>
              <a:rPr lang="en-GB" dirty="0"/>
            </a:br>
            <a:r>
              <a:rPr lang="en-GB" dirty="0"/>
              <a:t>Evaluate products using both sales and profit rather than sales alone.</a:t>
            </a:r>
          </a:p>
          <a:p>
            <a:r>
              <a:rPr lang="en-GB" b="1" dirty="0"/>
              <a:t>05 — Customer Retention</a:t>
            </a:r>
            <a:br>
              <a:rPr lang="en-GB" dirty="0"/>
            </a:br>
            <a:r>
              <a:rPr lang="en-GB" dirty="0"/>
              <a:t>Use customer-level analysis to identify valuable customers and develop targeted retention strategies.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1086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521B4-EF51-4E29-8F8C-B85065146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67" y="2743200"/>
            <a:ext cx="10058400" cy="1371600"/>
          </a:xfrm>
        </p:spPr>
        <p:txBody>
          <a:bodyPr>
            <a:normAutofit/>
          </a:bodyPr>
          <a:lstStyle/>
          <a:p>
            <a:r>
              <a:rPr lang="en-GB" sz="5400" dirty="0"/>
              <a:t>THANK 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31744509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Sagona Extra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agona Boo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Override1.xml><?xml version="1.0" encoding="utf-8"?>
<a:themeOverride xmlns:a="http://schemas.openxmlformats.org/drawingml/2006/main">
  <a:clrScheme name="Marquee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418AB3"/>
    </a:accent1>
    <a:accent2>
      <a:srgbClr val="A6B727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Marquee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418AB3"/>
    </a:accent1>
    <a:accent2>
      <a:srgbClr val="A6B727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F3B215-496E-4790-A364-7C1C46DEC77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E2713E1-6312-427E-BFCB-C5A5DA3013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DB95DD-0319-4EE5-8C5C-9CEDF75E02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{16A383F8-63A7-45E1-BA2E-36F5BCFE8C0A}TF029381d7-1900-4cf6-a601-bb0184aacdbaf0338e59_win32-4b933ff3c21f</Template>
  <TotalTime>113</TotalTime>
  <Words>687</Words>
  <Application>Microsoft Office PowerPoint</Application>
  <PresentationFormat>Widescreen</PresentationFormat>
  <Paragraphs>149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Garamond</vt:lpstr>
      <vt:lpstr>Sagona Book</vt:lpstr>
      <vt:lpstr>Sagona ExtraLight</vt:lpstr>
      <vt:lpstr>Segoe UI Historic</vt:lpstr>
      <vt:lpstr>Segoe UI Variable Small Semilig</vt:lpstr>
      <vt:lpstr>SavonVTI</vt:lpstr>
      <vt:lpstr>ADVENTURE WORKS  SALES  ANALYSIS</vt:lpstr>
      <vt:lpstr>Final Project Presentation</vt:lpstr>
      <vt:lpstr>PROJECT OVERVIEW</vt:lpstr>
      <vt:lpstr>WEEK 1 </vt:lpstr>
      <vt:lpstr>Excel Findings </vt:lpstr>
      <vt:lpstr>WEEK 2</vt:lpstr>
      <vt:lpstr>SQL Finding</vt:lpstr>
      <vt:lpstr>WEEK 2</vt:lpstr>
      <vt:lpstr>Tableau Findings</vt:lpstr>
      <vt:lpstr>WEEK 3</vt:lpstr>
      <vt:lpstr>Power BI findings</vt:lpstr>
      <vt:lpstr>Key Achievements</vt:lpstr>
      <vt:lpstr>Business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ashumeee813@gmail.com</dc:creator>
  <cp:lastModifiedBy>ashumeee813@gmail.com</cp:lastModifiedBy>
  <cp:revision>3</cp:revision>
  <dcterms:created xsi:type="dcterms:W3CDTF">2026-09-17T16:41:02Z</dcterms:created>
  <dcterms:modified xsi:type="dcterms:W3CDTF">2026-09-18T09:49:03Z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